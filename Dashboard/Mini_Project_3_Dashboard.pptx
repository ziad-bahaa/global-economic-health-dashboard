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67117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155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897" y="1122363"/>
            <a:ext cx="8003381" cy="2387600"/>
          </a:xfrm>
        </p:spPr>
        <p:txBody>
          <a:bodyPr anchor="b"/>
          <a:lstStyle>
            <a:lvl1pPr algn="ctr">
              <a:defRPr sz="5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3897" y="3602038"/>
            <a:ext cx="8003381" cy="1655762"/>
          </a:xfrm>
        </p:spPr>
        <p:txBody>
          <a:bodyPr/>
          <a:lstStyle>
            <a:lvl1pPr marL="0" indent="0" algn="ctr">
              <a:buNone/>
              <a:defRPr sz="2101"/>
            </a:lvl1pPr>
            <a:lvl2pPr marL="400187" indent="0" algn="ctr">
              <a:buNone/>
              <a:defRPr sz="1751"/>
            </a:lvl2pPr>
            <a:lvl3pPr marL="800374" indent="0" algn="ctr">
              <a:buNone/>
              <a:defRPr sz="1576"/>
            </a:lvl3pPr>
            <a:lvl4pPr marL="1200561" indent="0" algn="ctr">
              <a:buNone/>
              <a:defRPr sz="1400"/>
            </a:lvl4pPr>
            <a:lvl5pPr marL="1600749" indent="0" algn="ctr">
              <a:buNone/>
              <a:defRPr sz="1400"/>
            </a:lvl5pPr>
            <a:lvl6pPr marL="2000936" indent="0" algn="ctr">
              <a:buNone/>
              <a:defRPr sz="1400"/>
            </a:lvl6pPr>
            <a:lvl7pPr marL="2401123" indent="0" algn="ctr">
              <a:buNone/>
              <a:defRPr sz="1400"/>
            </a:lvl7pPr>
            <a:lvl8pPr marL="2801310" indent="0" algn="ctr">
              <a:buNone/>
              <a:defRPr sz="1400"/>
            </a:lvl8pPr>
            <a:lvl9pPr marL="3201497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5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1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086" y="1709739"/>
            <a:ext cx="9203888" cy="2852737"/>
          </a:xfrm>
        </p:spPr>
        <p:txBody>
          <a:bodyPr anchor="b"/>
          <a:lstStyle>
            <a:lvl1pPr>
              <a:defRPr sz="5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086" y="4589464"/>
            <a:ext cx="9203888" cy="1500187"/>
          </a:xfrm>
        </p:spPr>
        <p:txBody>
          <a:bodyPr/>
          <a:lstStyle>
            <a:lvl1pPr marL="0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1pPr>
            <a:lvl2pPr marL="400187" indent="0">
              <a:buNone/>
              <a:defRPr sz="1751">
                <a:solidFill>
                  <a:schemeClr val="tx1">
                    <a:tint val="75000"/>
                  </a:schemeClr>
                </a:solidFill>
              </a:defRPr>
            </a:lvl2pPr>
            <a:lvl3pPr marL="800374" indent="0">
              <a:buNone/>
              <a:defRPr sz="1576">
                <a:solidFill>
                  <a:schemeClr val="tx1">
                    <a:tint val="75000"/>
                  </a:schemeClr>
                </a:solidFill>
              </a:defRPr>
            </a:lvl3pPr>
            <a:lvl4pPr marL="12005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6007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0009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4011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8013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2014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7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3643" y="1825625"/>
            <a:ext cx="453524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2283" y="1825625"/>
            <a:ext cx="453524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5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33" y="365126"/>
            <a:ext cx="92038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34" y="1681163"/>
            <a:ext cx="4514407" cy="823912"/>
          </a:xfrm>
        </p:spPr>
        <p:txBody>
          <a:bodyPr anchor="b"/>
          <a:lstStyle>
            <a:lvl1pPr marL="0" indent="0">
              <a:buNone/>
              <a:defRPr sz="2101" b="1"/>
            </a:lvl1pPr>
            <a:lvl2pPr marL="400187" indent="0">
              <a:buNone/>
              <a:defRPr sz="1751" b="1"/>
            </a:lvl2pPr>
            <a:lvl3pPr marL="800374" indent="0">
              <a:buNone/>
              <a:defRPr sz="1576" b="1"/>
            </a:lvl3pPr>
            <a:lvl4pPr marL="1200561" indent="0">
              <a:buNone/>
              <a:defRPr sz="1400" b="1"/>
            </a:lvl4pPr>
            <a:lvl5pPr marL="1600749" indent="0">
              <a:buNone/>
              <a:defRPr sz="1400" b="1"/>
            </a:lvl5pPr>
            <a:lvl6pPr marL="2000936" indent="0">
              <a:buNone/>
              <a:defRPr sz="1400" b="1"/>
            </a:lvl6pPr>
            <a:lvl7pPr marL="2401123" indent="0">
              <a:buNone/>
              <a:defRPr sz="1400" b="1"/>
            </a:lvl7pPr>
            <a:lvl8pPr marL="2801310" indent="0">
              <a:buNone/>
              <a:defRPr sz="1400" b="1"/>
            </a:lvl8pPr>
            <a:lvl9pPr marL="3201497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5034" y="2505075"/>
            <a:ext cx="451440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02282" y="1681163"/>
            <a:ext cx="4536639" cy="823912"/>
          </a:xfrm>
        </p:spPr>
        <p:txBody>
          <a:bodyPr anchor="b"/>
          <a:lstStyle>
            <a:lvl1pPr marL="0" indent="0">
              <a:buNone/>
              <a:defRPr sz="2101" b="1"/>
            </a:lvl1pPr>
            <a:lvl2pPr marL="400187" indent="0">
              <a:buNone/>
              <a:defRPr sz="1751" b="1"/>
            </a:lvl2pPr>
            <a:lvl3pPr marL="800374" indent="0">
              <a:buNone/>
              <a:defRPr sz="1576" b="1"/>
            </a:lvl3pPr>
            <a:lvl4pPr marL="1200561" indent="0">
              <a:buNone/>
              <a:defRPr sz="1400" b="1"/>
            </a:lvl4pPr>
            <a:lvl5pPr marL="1600749" indent="0">
              <a:buNone/>
              <a:defRPr sz="1400" b="1"/>
            </a:lvl5pPr>
            <a:lvl6pPr marL="2000936" indent="0">
              <a:buNone/>
              <a:defRPr sz="1400" b="1"/>
            </a:lvl6pPr>
            <a:lvl7pPr marL="2401123" indent="0">
              <a:buNone/>
              <a:defRPr sz="1400" b="1"/>
            </a:lvl7pPr>
            <a:lvl8pPr marL="2801310" indent="0">
              <a:buNone/>
              <a:defRPr sz="1400" b="1"/>
            </a:lvl8pPr>
            <a:lvl9pPr marL="3201497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02282" y="2505075"/>
            <a:ext cx="453663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8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3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5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34" y="457200"/>
            <a:ext cx="3441731" cy="1600200"/>
          </a:xfrm>
        </p:spPr>
        <p:txBody>
          <a:bodyPr anchor="b"/>
          <a:lstStyle>
            <a:lvl1pPr>
              <a:defRPr sz="28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639" y="987426"/>
            <a:ext cx="5402282" cy="4873625"/>
          </a:xfrm>
        </p:spPr>
        <p:txBody>
          <a:bodyPr/>
          <a:lstStyle>
            <a:lvl1pPr>
              <a:defRPr sz="2801"/>
            </a:lvl1pPr>
            <a:lvl2pPr>
              <a:defRPr sz="2451"/>
            </a:lvl2pPr>
            <a:lvl3pPr>
              <a:defRPr sz="2101"/>
            </a:lvl3pPr>
            <a:lvl4pPr>
              <a:defRPr sz="1751"/>
            </a:lvl4pPr>
            <a:lvl5pPr>
              <a:defRPr sz="1751"/>
            </a:lvl5pPr>
            <a:lvl6pPr>
              <a:defRPr sz="1751"/>
            </a:lvl6pPr>
            <a:lvl7pPr>
              <a:defRPr sz="1751"/>
            </a:lvl7pPr>
            <a:lvl8pPr>
              <a:defRPr sz="1751"/>
            </a:lvl8pPr>
            <a:lvl9pPr>
              <a:defRPr sz="17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5034" y="2057400"/>
            <a:ext cx="3441731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00187" indent="0">
              <a:buNone/>
              <a:defRPr sz="1225"/>
            </a:lvl2pPr>
            <a:lvl3pPr marL="800374" indent="0">
              <a:buNone/>
              <a:defRPr sz="1050"/>
            </a:lvl3pPr>
            <a:lvl4pPr marL="1200561" indent="0">
              <a:buNone/>
              <a:defRPr sz="875"/>
            </a:lvl4pPr>
            <a:lvl5pPr marL="1600749" indent="0">
              <a:buNone/>
              <a:defRPr sz="875"/>
            </a:lvl5pPr>
            <a:lvl6pPr marL="2000936" indent="0">
              <a:buNone/>
              <a:defRPr sz="875"/>
            </a:lvl6pPr>
            <a:lvl7pPr marL="2401123" indent="0">
              <a:buNone/>
              <a:defRPr sz="875"/>
            </a:lvl7pPr>
            <a:lvl8pPr marL="2801310" indent="0">
              <a:buNone/>
              <a:defRPr sz="875"/>
            </a:lvl8pPr>
            <a:lvl9pPr marL="3201497" indent="0">
              <a:buNone/>
              <a:defRPr sz="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6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34" y="457200"/>
            <a:ext cx="3441731" cy="1600200"/>
          </a:xfrm>
        </p:spPr>
        <p:txBody>
          <a:bodyPr anchor="b"/>
          <a:lstStyle>
            <a:lvl1pPr>
              <a:defRPr sz="28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36639" y="987426"/>
            <a:ext cx="5402282" cy="4873625"/>
          </a:xfrm>
        </p:spPr>
        <p:txBody>
          <a:bodyPr anchor="t"/>
          <a:lstStyle>
            <a:lvl1pPr marL="0" indent="0">
              <a:buNone/>
              <a:defRPr sz="2801"/>
            </a:lvl1pPr>
            <a:lvl2pPr marL="400187" indent="0">
              <a:buNone/>
              <a:defRPr sz="2451"/>
            </a:lvl2pPr>
            <a:lvl3pPr marL="800374" indent="0">
              <a:buNone/>
              <a:defRPr sz="2101"/>
            </a:lvl3pPr>
            <a:lvl4pPr marL="1200561" indent="0">
              <a:buNone/>
              <a:defRPr sz="1751"/>
            </a:lvl4pPr>
            <a:lvl5pPr marL="1600749" indent="0">
              <a:buNone/>
              <a:defRPr sz="1751"/>
            </a:lvl5pPr>
            <a:lvl6pPr marL="2000936" indent="0">
              <a:buNone/>
              <a:defRPr sz="1751"/>
            </a:lvl6pPr>
            <a:lvl7pPr marL="2401123" indent="0">
              <a:buNone/>
              <a:defRPr sz="1751"/>
            </a:lvl7pPr>
            <a:lvl8pPr marL="2801310" indent="0">
              <a:buNone/>
              <a:defRPr sz="1751"/>
            </a:lvl8pPr>
            <a:lvl9pPr marL="3201497" indent="0">
              <a:buNone/>
              <a:defRPr sz="1751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5034" y="2057400"/>
            <a:ext cx="3441731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00187" indent="0">
              <a:buNone/>
              <a:defRPr sz="1225"/>
            </a:lvl2pPr>
            <a:lvl3pPr marL="800374" indent="0">
              <a:buNone/>
              <a:defRPr sz="1050"/>
            </a:lvl3pPr>
            <a:lvl4pPr marL="1200561" indent="0">
              <a:buNone/>
              <a:defRPr sz="875"/>
            </a:lvl4pPr>
            <a:lvl5pPr marL="1600749" indent="0">
              <a:buNone/>
              <a:defRPr sz="875"/>
            </a:lvl5pPr>
            <a:lvl6pPr marL="2000936" indent="0">
              <a:buNone/>
              <a:defRPr sz="875"/>
            </a:lvl6pPr>
            <a:lvl7pPr marL="2401123" indent="0">
              <a:buNone/>
              <a:defRPr sz="875"/>
            </a:lvl7pPr>
            <a:lvl8pPr marL="2801310" indent="0">
              <a:buNone/>
              <a:defRPr sz="875"/>
            </a:lvl8pPr>
            <a:lvl9pPr marL="3201497" indent="0">
              <a:buNone/>
              <a:defRPr sz="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2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36560" y="365125"/>
            <a:ext cx="230097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3643" y="365125"/>
            <a:ext cx="676952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3644" y="365126"/>
            <a:ext cx="92038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44" y="1825625"/>
            <a:ext cx="92038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3643" y="6356351"/>
            <a:ext cx="2401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34827" y="6356351"/>
            <a:ext cx="3601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36518" y="6356351"/>
            <a:ext cx="2401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00374" rtl="0" eaLnBrk="1" latinLnBrk="0" hangingPunct="1">
        <a:lnSpc>
          <a:spcPct val="90000"/>
        </a:lnSpc>
        <a:spcBef>
          <a:spcPct val="0"/>
        </a:spcBef>
        <a:buNone/>
        <a:defRPr sz="3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94" indent="-200094" algn="l" defTabSz="800374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1" kern="1200">
          <a:solidFill>
            <a:schemeClr val="tx1"/>
          </a:solidFill>
          <a:latin typeface="+mn-lt"/>
          <a:ea typeface="+mn-ea"/>
          <a:cs typeface="+mn-cs"/>
        </a:defRPr>
      </a:lvl1pPr>
      <a:lvl2pPr marL="600281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1000468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751" kern="1200">
          <a:solidFill>
            <a:schemeClr val="tx1"/>
          </a:solidFill>
          <a:latin typeface="+mn-lt"/>
          <a:ea typeface="+mn-ea"/>
          <a:cs typeface="+mn-cs"/>
        </a:defRPr>
      </a:lvl3pPr>
      <a:lvl4pPr marL="1400655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4pPr>
      <a:lvl5pPr marL="1800842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5pPr>
      <a:lvl6pPr marL="2201029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6pPr>
      <a:lvl7pPr marL="2601217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7pPr>
      <a:lvl8pPr marL="3001404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8pPr>
      <a:lvl9pPr marL="3401591" indent="-200094" algn="l" defTabSz="800374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400187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2pPr>
      <a:lvl3pPr marL="800374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3pPr>
      <a:lvl4pPr marL="1200561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4pPr>
      <a:lvl5pPr marL="1600749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5pPr>
      <a:lvl6pPr marL="2000936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6pPr>
      <a:lvl7pPr marL="2401123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7pPr>
      <a:lvl8pPr marL="2801310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8pPr>
      <a:lvl9pPr marL="3201497" algn="l" defTabSz="800374" rtl="0" eaLnBrk="1" latinLnBrk="0" hangingPunct="1">
        <a:defRPr sz="15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Mini_Project_3_Dashboard/EnergyResourc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10BEF9B-4224-464D-88B3-9D85D4D53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124" y="1901142"/>
            <a:ext cx="8237683" cy="1527858"/>
          </a:xfrm>
        </p:spPr>
        <p:txBody>
          <a:bodyPr>
            <a:normAutofit/>
          </a:bodyPr>
          <a:lstStyle/>
          <a:p>
            <a:r>
              <a:rPr lang="en-us" sz="5400" dirty="0">
                <a:hlinkClick r:id="rId2"/>
              </a:rPr>
              <a:t>Mini_Project_3_Dashboard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DC8F008D-C04E-4F6A-ABA5-9BA979A62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897" y="3680750"/>
            <a:ext cx="8003381" cy="252328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dirty="0"/>
              <a:t>File created on: 10/24/2026 4:07:24 AM</a:t>
            </a:r>
            <a:endParaRPr lang="ar-EG" dirty="0"/>
          </a:p>
          <a:p>
            <a:pPr>
              <a:lnSpc>
                <a:spcPct val="170000"/>
              </a:lnSpc>
            </a:pPr>
            <a:r>
              <a:rPr lang="en-US" dirty="0"/>
              <a:t>Prepared by: Ziad Bahaa Mokhlef Mohamed </a:t>
            </a:r>
            <a:br>
              <a:rPr lang="ar-EG" dirty="0"/>
            </a:br>
            <a:r>
              <a:rPr lang="en-US" dirty="0"/>
              <a:t>Data Analyst Trainee @ DEPI</a:t>
            </a:r>
            <a:br>
              <a:rPr lang="ar-EG" dirty="0"/>
            </a:br>
            <a:r>
              <a:rPr lang="en-US" dirty="0"/>
              <a:t> Tool: Tableau</a:t>
            </a:r>
          </a:p>
          <a:p>
            <a:pPr>
              <a:lnSpc>
                <a:spcPct val="17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OME">
            <a:extLst>
              <a:ext uri="{FF2B5EF4-FFF2-40B4-BE49-F238E27FC236}">
                <a16:creationId xmlns:a16="http://schemas.microsoft.com/office/drawing/2014/main" id="{23F7EA6B-0981-4EE7-9623-15449829A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" y="0"/>
            <a:ext cx="10671282" cy="685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Global Overview">
            <a:extLst>
              <a:ext uri="{FF2B5EF4-FFF2-40B4-BE49-F238E27FC236}">
                <a16:creationId xmlns:a16="http://schemas.microsoft.com/office/drawing/2014/main" id="{77D84AD5-A4AF-4A7D-A709-8BE6B9E46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71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Economic Analysis">
            <a:extLst>
              <a:ext uri="{FF2B5EF4-FFF2-40B4-BE49-F238E27FC236}">
                <a16:creationId xmlns:a16="http://schemas.microsoft.com/office/drawing/2014/main" id="{6A7DB5C6-1E3E-4691-8771-69BD1E1C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71175" cy="685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Public Health &amp;amp; Demographics">
            <a:extLst>
              <a:ext uri="{FF2B5EF4-FFF2-40B4-BE49-F238E27FC236}">
                <a16:creationId xmlns:a16="http://schemas.microsoft.com/office/drawing/2014/main" id="{6E1FD91C-CC78-4DA3-AB6F-2E4DDC4C2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71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Energy &amp;amp; Resources">
            <a:extLst>
              <a:ext uri="{FF2B5EF4-FFF2-40B4-BE49-F238E27FC236}">
                <a16:creationId xmlns:a16="http://schemas.microsoft.com/office/drawing/2014/main" id="{11791183-B019-4D5D-8371-AAB2E480E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71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32</Words>
  <Application>Microsoft Office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2013 - 2022 Theme</vt:lpstr>
      <vt:lpstr>Mini_Project_3_Dashboard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Ziad Bahaa</dc:creator>
  <cp:lastModifiedBy>زياد بهاء مخلف محمد</cp:lastModifiedBy>
  <cp:revision>3</cp:revision>
  <dcterms:created xsi:type="dcterms:W3CDTF">2026-10-24T04:07:25Z</dcterms:created>
  <dcterms:modified xsi:type="dcterms:W3CDTF">2026-10-24T04:13:30Z</dcterms:modified>
</cp:coreProperties>
</file>